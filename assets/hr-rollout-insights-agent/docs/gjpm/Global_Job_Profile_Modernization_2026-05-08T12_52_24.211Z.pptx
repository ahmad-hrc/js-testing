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9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4.xlsx"/></Relationships>
</file>

<file path=ppt/charts/chart1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Finalize role mapping</c:v>
                  </c:pt>
                  <c:pt idx="1">
                    <c:v>Manager comms &amp; change readiness</c:v>
                  </c:pt>
                  <c:pt idx="2">
                    <c:v>Regional deployment (Wave 1)</c:v>
                  </c:pt>
                  <c:pt idx="3">
                    <c:v>Compensation benchmarking</c:v>
                  </c:pt>
                  <c:pt idx="4">
                    <c:v>Feedback checkpoint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5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v/utils/ppt/images/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pic>
        <p:nvPicPr>
          <p:cNvPr id="3" name="Image 1" descr="srv/utils/ppt/images/s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360000"/>
            <a:ext cx="727200" cy="360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84400" y="6159600"/>
            <a:ext cx="1195200" cy="4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284400" y="6159600"/>
            <a:ext cx="1195200" cy="41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Add partner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</a:rPr>
              <a:t>logo and alt text</a:t>
            </a:r>
            <a:endParaRPr lang="en-US" sz="9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288000" y="2707200"/>
            <a:ext cx="5443200" cy="99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Title goes here and here and here</a:t>
            </a:r>
            <a:endParaRPr lang="en-US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288000" y="4302000"/>
            <a:ext cx="5403600" cy="22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&lt;Name&gt;, SAP</a:t>
            </a:r>
            <a:endParaRPr lang="en-US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284400" y="5079600"/>
            <a:ext cx="4986000" cy="25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 page title (sentence case)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Start typing to add text without a bullet point. To add a bullet point, place the cursor at the start of this line and press tab.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v/utils/ppt/images/sap-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Divider page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 page title (sentence case)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Start typing to add text without a bullet point. To add a bullet point, place the cursor at the start of this line and press tab.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v/utils/ppt/images/sap-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Divider page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 page title (sentence case)</a:t>
            </a:r>
            <a:endParaRPr lang="en-US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446400" y="2098800"/>
            <a:ext cx="11296800" cy="3985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439200" y="1598400"/>
            <a:ext cx="11304000" cy="360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v/utils/ppt/images/sap-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Divider page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 page title (sentence case)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Start typing to add text without a bullet point. To add a bullet point, place the cursor at the start of this line and press tab.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v/utils/ppt/images/sap-divi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429000"/>
            <a:ext cx="12192000" cy="3429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Divider page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 page title (sentence case)</a:t>
            </a: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Start typing to add text without a bullet point. To add a bullet point, place the cursor at the start of this line and press tab.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rv/utils/ppt/images/sap-bring-out-your-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2800" y="5990400"/>
            <a:ext cx="3506400" cy="36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4000" y="1544400"/>
            <a:ext cx="5414400" cy="84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500" dirty="0">
                <a:solidFill>
                  <a:srgbClr val="000000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Thank you.</a:t>
            </a:r>
            <a:endParaRPr lang="en-US" sz="5500" dirty="0"/>
          </a:p>
        </p:txBody>
      </p:sp>
      <p:sp>
        <p:nvSpPr>
          <p:cNvPr id="4" name="Text 1"/>
          <p:cNvSpPr/>
          <p:nvPr/>
        </p:nvSpPr>
        <p:spPr>
          <a:xfrm>
            <a:off x="504000" y="6537600"/>
            <a:ext cx="10155600" cy="14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© 2025 SAP SE or an SAP affiliate company. All rights reserved. See Legal Notice on www.sap.com/legal-notice for use terms, disclaimers, disclosures, or restrictions related to this material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04000" y="2905200"/>
            <a:ext cx="1944000" cy="24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Contact information:</a:t>
            </a:r>
            <a:endParaRPr lang="en-US" sz="1600" dirty="0"/>
          </a:p>
        </p:txBody>
      </p:sp>
      <p:sp>
        <p:nvSpPr>
          <p:cNvPr id="6" name="Text 3"/>
          <p:cNvSpPr/>
          <p:nvPr>
            <p:ph idx="104" type="body" hasCustomPrompt="1"/>
          </p:nvPr>
        </p:nvSpPr>
        <p:spPr>
          <a:xfrm>
            <a:off x="504000" y="3351600"/>
            <a:ext cx="5403600" cy="22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Name</a:t>
            </a:r>
            <a:endParaRPr lang="en-US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504000" y="3600000"/>
            <a:ext cx="5403600" cy="22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Email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4" type="body" hasCustomPrompt="1"/>
          </p:nvPr>
        </p:nvSpPr>
        <p:spPr>
          <a:xfrm>
            <a:off x="288000" y="2707200"/>
            <a:ext cx="5443200" cy="99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dirty="0">
                <a:solidFill>
                  <a:srgbClr val="333333"/>
                </a:solidFill>
                <a:latin typeface="72 Brand Medium (Heading)" pitchFamily="34" charset="0"/>
                <a:ea typeface="72 Brand Medium (Heading)" pitchFamily="34" charset="-122"/>
                <a:cs typeface="72 Brand Medium (Heading)" pitchFamily="34" charset="-120"/>
              </a:rPr>
              <a:t>Global Job Profile Modernization</a:t>
            </a:r>
            <a:endParaRPr lang="en-US" sz="3600" dirty="0"/>
          </a:p>
        </p:txBody>
      </p:sp>
      <p:sp>
        <p:nvSpPr>
          <p:cNvPr id="3" name="Text 2"/>
          <p:cNvSpPr/>
          <p:nvPr>
            <p:ph idx="105" type="body" hasCustomPrompt="1"/>
          </p:nvPr>
        </p:nvSpPr>
        <p:spPr>
          <a:xfrm>
            <a:off x="288000" y="4302000"/>
            <a:ext cx="5403600" cy="223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HR Transformation Team, SAP</a:t>
            </a:r>
            <a:endParaRPr lang="en-US" sz="1400" dirty="0"/>
          </a:p>
        </p:txBody>
      </p:sp>
      <p:sp>
        <p:nvSpPr>
          <p:cNvPr id="4" name="Text 2"/>
          <p:cNvSpPr/>
          <p:nvPr>
            <p:ph idx="106" type="body" hasCustomPrompt="1"/>
          </p:nvPr>
        </p:nvSpPr>
        <p:spPr>
          <a:xfrm>
            <a:off x="284400" y="5079600"/>
            <a:ext cx="4986000" cy="252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INTERNAL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72 Brand Medium (Heading)" pitchFamily="34" charset="0"/>
                <a:ea typeface="72 Brand Medium (Heading)" pitchFamily="34" charset="-122"/>
                <a:cs typeface="72 Brand Medium (Heading)" pitchFamily="34" charset="-120"/>
              </a:rPr>
              <a:t>Objective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Modernize and simplify our global job profile framework to enable consistent talent decisions, improve workforce transparency, and support strategic workforce planning at scale.</a:t>
            </a:r>
            <a:endParaRPr lang="en-US" sz="2000" dirty="0"/>
          </a:p>
          <a:p>
            <a:pPr algn="l" indent="0" marL="0">
              <a:buNone/>
            </a:pP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This initiative replaces legacy, fragmented job architectures with a streamlined, future-ready structure aligned to business strategy and market benchmarks.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dirty="0">
                <a:solidFill>
                  <a:srgbClr val="333333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Progress to Date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72 Brand Medium (Heading)" pitchFamily="34" charset="0"/>
                <a:ea typeface="72 Brand Medium (Heading)" pitchFamily="34" charset="-122"/>
                <a:cs typeface="72 Brand Medium (Heading)" pitchFamily="34" charset="-120"/>
              </a:rPr>
              <a:t>What's Been Accomplished So Far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Global framework design completed: Defined a simplified job architecture with standardized job families, levels, and naming conventions across all regions and business units.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Stakeholder alignment secured: Completed engagement with HR leadership, Compensation, Talent Acquisition, and select business leaders to validate design principles and governance model.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Data assessment finalized: Audited existing job profiles across regions, identifying redundancies, inconsistencies, and gaps — reducing total profile count by approximately 40%.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Technology readiness confirmed: Partnered with HR Technology/Workday team to confirm system configuration requirements and integration pathway.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Pilot completed: Successfully tested the new framework in [pilot business unit/region], incorporating feedback into the final design.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dirty="0">
                <a:solidFill>
                  <a:srgbClr val="333333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What's Next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72 Brand Medium (Heading)" pitchFamily="34" charset="0"/>
                <a:ea typeface="72 Brand Medium (Heading)" pitchFamily="34" charset="-122"/>
                <a:cs typeface="72 Brand Medium (Heading)" pitchFamily="34" charset="-120"/>
              </a:rPr>
              <a:t>Next 90 Days: Key Milestones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439200" y="1598400"/>
            <a:ext cx="11304000" cy="360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Milestones &amp; Target Dates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>
            <p:ph idx="101" type="chart" hasCustomPrompt="1"/>
          </p:nvPr>
        </p:nvGraphicFramePr>
        <p:xfrm>
          <a:off x="446400" y="2098800"/>
          <a:ext cx="11296800" cy="3985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dirty="0">
                <a:solidFill>
                  <a:srgbClr val="333333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Risk Management</a:t>
            </a:r>
            <a:endParaRPr lang="en-US" sz="4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72 Brand Medium (Heading)" pitchFamily="34" charset="0"/>
                <a:ea typeface="72 Brand Medium (Heading)" pitchFamily="34" charset="-122"/>
                <a:cs typeface="72 Brand Medium (Heading)" pitchFamily="34" charset="-120"/>
              </a:rPr>
              <a:t>Key Risks &amp; Mitigation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Change resistance from managers: Structured change management plan with targeted toolkits and leadership-led communications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Regional regulatory/works council requirements: Early engagement with local labor counsel and employee reps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Data quality gaps in legacy systems: Dedicated data stewards and validation checkpoints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- Competing HR transformation priorities: Aligned with HR tech roadmap and secured dedicated project resourcing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04000" y="1375200"/>
            <a:ext cx="11185200" cy="676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400" dirty="0">
                <a:solidFill>
                  <a:srgbClr val="333333"/>
                </a:solidFill>
                <a:latin typeface="72 Brand Medium" pitchFamily="34" charset="0"/>
                <a:ea typeface="72 Brand Medium" pitchFamily="34" charset="-122"/>
                <a:cs typeface="72 Brand Medium" pitchFamily="34" charset="-120"/>
              </a:rPr>
              <a:t>Leadership Support Needed</a:t>
            </a:r>
            <a:endParaRPr lang="en-US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04000" y="504000"/>
            <a:ext cx="11185200" cy="370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400" dirty="0">
                <a:solidFill>
                  <a:srgbClr val="333333"/>
                </a:solidFill>
                <a:latin typeface="72 Brand Medium (Heading)" pitchFamily="34" charset="0"/>
                <a:ea typeface="72 Brand Medium (Heading)" pitchFamily="34" charset="-122"/>
                <a:cs typeface="72 Brand Medium (Heading)" pitchFamily="34" charset="-120"/>
              </a:rPr>
              <a:t>Leadership Ask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04000" y="1548000"/>
            <a:ext cx="11185200" cy="478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1. Visible executive sponsorship: Champion the change in leadership forums and town halls.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2. Hold business leaders accountable for timely completion of role mapping.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3. Protect project resourcing: Maintain dedicated team allocation and prioritize this initiative.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33333"/>
                </a:solidFill>
                <a:latin typeface="72 Brand (Body)" pitchFamily="34" charset="0"/>
                <a:ea typeface="72 Brand (Body)" pitchFamily="34" charset="-122"/>
                <a:cs typeface="72 Brand (Body)" pitchFamily="34" charset="-120"/>
              </a:rPr>
              <a:t>4. Empower the project team: Decision rights to resolve escalations within a 5-day SLA.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body" hasCustomPrompt="1"/>
          </p:nvPr>
        </p:nvSpPr>
        <p:spPr>
          <a:xfrm>
            <a:off x="504000" y="3351600"/>
            <a:ext cx="5403600" cy="223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HR Transformation Team</a:t>
            </a:r>
            <a:endParaRPr lang="en-US" sz="14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504000" y="3600000"/>
            <a:ext cx="5403600" cy="223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72 Brand" pitchFamily="34" charset="0"/>
                <a:ea typeface="72 Brand" pitchFamily="34" charset="-122"/>
                <a:cs typeface="72 Brand" pitchFamily="34" charset="-120"/>
              </a:rPr>
              <a:t>user@example.com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2026-05-08T12:52:24Z</dcterms:created>
  <dcterms:modified xsi:type="dcterms:W3CDTF">2026-05-08T12:52:24Z</dcterms:modified>
</cp:coreProperties>
</file>